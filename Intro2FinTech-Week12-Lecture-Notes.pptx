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6858000" cy="9144000"/>
  <p:embeddedFontLst>
    <p:embeddedFont>
      <p:font typeface="Helvetica Neue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CF2CD4-3F7C-4763-9D14-1E59520A9C2C}">
  <a:tblStyle styleId="{0ACF2CD4-3F7C-4763-9D14-1E59520A9C2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12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font" Target="fonts/HelveticaNeue-bold.fntdata"/><Relationship Id="rId25" Type="http://schemas.openxmlformats.org/officeDocument/2006/relationships/slide" Target="slides/slide19.xml"/><Relationship Id="rId7" Type="http://schemas.openxmlformats.org/officeDocument/2006/relationships/slide" Target="slides/slide1.xml"/><Relationship Id="rId33" Type="http://schemas.openxmlformats.org/officeDocument/2006/relationships/font" Target="fonts/HelveticaNeue-regular.fntdata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8" Type="http://schemas.openxmlformats.org/officeDocument/2006/relationships/customXml" Target="../customXml/item2.xml"/><Relationship Id="rId20" Type="http://schemas.openxmlformats.org/officeDocument/2006/relationships/slide" Target="slides/slide14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24" Type="http://schemas.openxmlformats.org/officeDocument/2006/relationships/slide" Target="slides/slide18.xml"/><Relationship Id="rId1" Type="http://schemas.openxmlformats.org/officeDocument/2006/relationships/theme" Target="theme/theme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customXml" Target="../customXml/item1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36" Type="http://schemas.openxmlformats.org/officeDocument/2006/relationships/font" Target="fonts/HelveticaNeue-boldItalic.fntdata"/><Relationship Id="rId31" Type="http://schemas.openxmlformats.org/officeDocument/2006/relationships/slide" Target="slides/slide2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22" Type="http://schemas.openxmlformats.org/officeDocument/2006/relationships/slide" Target="slides/slide16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HelveticaNeue-italic.fntdata"/><Relationship Id="rId14" Type="http://schemas.openxmlformats.org/officeDocument/2006/relationships/slide" Target="slides/slide8.xml"/><Relationship Id="rId8" Type="http://schemas.openxmlformats.org/officeDocument/2006/relationships/slide" Target="slides/slide2.xml"/><Relationship Id="rId3" Type="http://schemas.openxmlformats.org/officeDocument/2006/relationships/presProps" Target="presProps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ITS_university_logo_whitevert.png" id="20" name="Google Shape;20;p2"/>
          <p:cNvPicPr preferRelativeResize="0"/>
          <p:nvPr/>
        </p:nvPicPr>
        <p:blipFill rotWithShape="1">
          <a:blip r:embed="rId3">
            <a:alphaModFix/>
          </a:blip>
          <a:srcRect b="28592" l="0" r="0" t="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U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2" name="Google Shape;22;p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3" name="Google Shape;23;p2"/>
          <p:cNvSpPr txBox="1"/>
          <p:nvPr>
            <p:ph idx="1" type="body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Server\D\jyoti\FI023_BITS_v1\styleguide img\IMG_5627_b.jpg"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7.png" id="28" name="Google Shape;28;p3"/>
          <p:cNvPicPr preferRelativeResize="0"/>
          <p:nvPr/>
        </p:nvPicPr>
        <p:blipFill rotWithShape="1">
          <a:blip r:embed="rId3">
            <a:alphaModFix/>
          </a:blip>
          <a:srcRect b="5335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U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33" name="Google Shape;33;p3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US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7" name="Google Shape;37;p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8" name="Google Shape;38;p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41" name="Google Shape;41;p4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3" name="Google Shape;43;p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" name="Google Shape;46;p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7" name="Google Shape;47;p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2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ITS_university_logo_whitevert.png" id="58" name="Google Shape;58;p5"/>
          <p:cNvPicPr preferRelativeResize="0"/>
          <p:nvPr/>
        </p:nvPicPr>
        <p:blipFill rotWithShape="1">
          <a:blip r:embed="rId3">
            <a:alphaModFix/>
          </a:blip>
          <a:srcRect b="28592" l="0" r="0" t="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61" name="Google Shape;61;p5"/>
          <p:cNvSpPr txBox="1"/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7.png" id="63" name="Google Shape;63;p6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" name="Google Shape;64;p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5" name="Google Shape;65;p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p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9" name="Google Shape;69;p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73" name="Google Shape;73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indent="-330200" lvl="1" marL="914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6"/>
          <p:cNvSpPr txBox="1"/>
          <p:nvPr>
            <p:ph idx="2" type="body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indent="-330200" lvl="1" marL="914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6"/>
          <p:cNvSpPr txBox="1"/>
          <p:nvPr>
            <p:ph idx="3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1" name="Google Shape;81;p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5" name="Google Shape;85;p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88" name="Google Shape;88;p7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90" name="Google Shape;90;p7"/>
          <p:cNvSpPr txBox="1"/>
          <p:nvPr>
            <p:ph idx="1" type="body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1" name="Google Shape;91;p7"/>
          <p:cNvSpPr txBox="1"/>
          <p:nvPr>
            <p:ph idx="2" type="body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2" name="Google Shape;92;p7"/>
          <p:cNvSpPr txBox="1"/>
          <p:nvPr>
            <p:ph idx="3" type="body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3" name="Google Shape;93;p7"/>
          <p:cNvSpPr txBox="1"/>
          <p:nvPr>
            <p:ph idx="4" type="body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4" name="Google Shape;94;p7"/>
          <p:cNvSpPr txBox="1"/>
          <p:nvPr>
            <p:ph idx="5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7" name="Google Shape;97;p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1" name="Google Shape;101;p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04" name="Google Shape;104;p8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06" name="Google Shape;106;p8"/>
          <p:cNvSpPr txBox="1"/>
          <p:nvPr>
            <p:ph idx="1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19" name="Google Shape;119;p9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21" name="Google Shape;121;p9"/>
          <p:cNvSpPr txBox="1"/>
          <p:nvPr>
            <p:ph idx="1" type="body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2" name="Google Shape;122;p9"/>
          <p:cNvSpPr txBox="1"/>
          <p:nvPr>
            <p:ph idx="2" type="body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3" name="Google Shape;123;p9"/>
          <p:cNvSpPr txBox="1"/>
          <p:nvPr>
            <p:ph idx="3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33" name="Google Shape;133;p10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35" name="Google Shape;135;p10"/>
          <p:cNvSpPr txBox="1"/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"/>
          <p:cNvSpPr/>
          <p:nvPr>
            <p:ph idx="2" type="pic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DAE5F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0"/>
          <p:cNvSpPr txBox="1"/>
          <p:nvPr>
            <p:ph idx="1" type="body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8" name="Google Shape;138;p10"/>
          <p:cNvSpPr txBox="1"/>
          <p:nvPr>
            <p:ph idx="3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48" name="Google Shape;148;p11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1"/>
          <p:cNvSpPr txBox="1"/>
          <p:nvPr>
            <p:ph idx="2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57" name="Google Shape;157;p12"/>
          <p:cNvPicPr preferRelativeResize="0"/>
          <p:nvPr/>
        </p:nvPicPr>
        <p:blipFill rotWithShape="1">
          <a:blip r:embed="rId2">
            <a:alphaModFix/>
          </a:blip>
          <a:srcRect b="0" l="5336" r="0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12"/>
          <p:cNvSpPr txBox="1"/>
          <p:nvPr>
            <p:ph idx="2" type="body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Pilani presentation</a:t>
            </a:r>
            <a:endParaRPr/>
          </a:p>
        </p:txBody>
      </p:sp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Sivasubramanian Natarajan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WILP Division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idx="1" type="body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000"/>
              <a:buNone/>
            </a:pPr>
            <a:r>
              <a:rPr b="0" i="0" lang="en-US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 to Fintech </a:t>
            </a:r>
            <a:r>
              <a:rPr b="0" i="0" lang="en-US" sz="36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(Merged - MBAZG516/PDFTZG516)(</a:t>
            </a:r>
            <a:r>
              <a:rPr b="0" lang="en-US" sz="36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S1-24</a:t>
            </a:r>
            <a:r>
              <a:rPr b="0" i="0" lang="en-US" sz="36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Lecture No. 10 / Week 10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10 Focus</a:t>
            </a:r>
            <a:endParaRPr/>
          </a:p>
        </p:txBody>
      </p:sp>
      <p:sp>
        <p:nvSpPr>
          <p:cNvPr id="182" name="Google Shape;182;p16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83" name="Google Shape;183;p16"/>
          <p:cNvGraphicFramePr/>
          <p:nvPr/>
        </p:nvGraphicFramePr>
        <p:xfrm>
          <a:off x="423862" y="220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{0ACF2CD4-3F7C-4763-9D14-1E59520A9C2C}</a:tableStyleId>
              </a:tblPr>
              <a:tblGrid>
                <a:gridCol w="1252550"/>
                <a:gridCol w="1524000"/>
                <a:gridCol w="2743200"/>
                <a:gridCol w="2819400"/>
              </a:tblGrid>
              <a:tr h="177800">
                <a:tc>
                  <a:txBody>
                    <a:bodyPr/>
                    <a:lstStyle/>
                    <a:p>
                      <a:pPr indent="0" lvl="0" marL="0" marR="42036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Session 1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42036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Contact Hours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42036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Topic Title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42036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Study / HW Resource Reference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42036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42036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19 and 20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Disruption in Asset Servicing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420369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T1, Class materials</a:t>
                      </a:r>
                      <a:endParaRPr sz="14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76200" y="1295400"/>
            <a:ext cx="8763000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Fintech is characterized by its treelike structure, which clarifies the way fintech is organized across the different financial services in the market today.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Fintech Ecosystem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Financial Services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Domains (Banking, Payments, Lending, Insurance, Wealth Management)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Themes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Trends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activity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specific service providers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Ecosystem Players</a:t>
            </a:r>
            <a:endParaRPr/>
          </a:p>
          <a:p>
            <a:pPr indent="-457200" lvl="2" marL="9144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Regulation</a:t>
            </a:r>
            <a:endParaRPr/>
          </a:p>
          <a:p>
            <a:pPr indent="-457200" lvl="2" marL="9144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</a:t>
            </a:r>
            <a:endParaRPr/>
          </a:p>
          <a:p>
            <a:pPr indent="-457200" lvl="2" marL="9144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Partnership / Alliances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 enabled Business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 Powered Business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Fintech Frameworks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Identity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 Computing</a:t>
            </a:r>
            <a:endParaRPr/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ML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API and Banking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/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10 Agenda Summary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8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54781" y="1447800"/>
            <a:ext cx="8834437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Asset servicing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Difference between Asset management and asset servicing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challenges in asset servicing activities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Emerging Technology and its impact </a:t>
            </a:r>
            <a:endParaRPr/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disruption ? 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emerging technologies are disrupting asset servicing</a:t>
            </a:r>
            <a:endParaRPr/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idx="1" type="body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/>
              <a:t>Introduction to Disruption</a:t>
            </a:r>
            <a:endParaRPr i="1"/>
          </a:p>
        </p:txBody>
      </p:sp>
      <p:sp>
        <p:nvSpPr>
          <p:cNvPr id="203" name="Google Shape;203;p19"/>
          <p:cNvSpPr txBox="1"/>
          <p:nvPr>
            <p:ph idx="4294967295" type="sldNum"/>
          </p:nvPr>
        </p:nvSpPr>
        <p:spPr>
          <a:xfrm>
            <a:off x="0" y="645636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Disruption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133836" y="1385312"/>
            <a:ext cx="8682037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organisation is in pursuit of sustainability efforts, other than their core activity, which is to maintain its market position.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Disruption at its core is designed to position a company in the market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0" i="1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competition against incumbents, to disrupt their offerings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0" i="1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Or, to sustain its own competitive differentiation as an incumbent</a:t>
            </a:r>
            <a:endParaRPr/>
          </a:p>
          <a:p>
            <a:pPr indent="-1460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None/>
            </a:pPr>
            <a:r>
              <a:t/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Technology in fintech has become a key driver to achieve this positioning.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process that leverages technology as a factor of disruption ?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Factors of disruption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57162" y="1425936"/>
            <a:ext cx="8682037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Ref: Dr Clayton Christensen coined the term disruptive innovation through case studies of Steel Mills, Toyota Cars and McDonalds.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the above study, Innovation appears to be of three types,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Disruptive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Sustainability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efficiency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Outcome of disruptive innovation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Disruptive innovations disrupt and transform the current paradigm of competition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Disruptive innovations create new markets and stimulate new growth by changing the underlying value proposition.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to make technology disruptive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133836" y="1295400"/>
            <a:ext cx="8682037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a disruptive technology?  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makes a technology disruptive?  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criteria for identifying a disruptive technology? 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forces that result in disruption as outcome? 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various studies three factors emerge that create value for the customers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  <a:p>
            <a:pPr indent="-158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three factors use innovation as a process to bring a favourable outcome in meeting customer demand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is necessary for an organisation to sustain its competitive position or disrupt another organisation in the market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process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5" name="Google Shape;235;p23"/>
          <p:cNvGrpSpPr/>
          <p:nvPr/>
        </p:nvGrpSpPr>
        <p:grpSpPr>
          <a:xfrm>
            <a:off x="594002" y="1397000"/>
            <a:ext cx="7955994" cy="4064000"/>
            <a:chOff x="289202" y="0"/>
            <a:chExt cx="7955994" cy="4064000"/>
          </a:xfrm>
        </p:grpSpPr>
        <p:sp>
          <p:nvSpPr>
            <p:cNvPr id="236" name="Google Shape;236;p23"/>
            <p:cNvSpPr/>
            <p:nvPr/>
          </p:nvSpPr>
          <p:spPr>
            <a:xfrm>
              <a:off x="640080" y="0"/>
              <a:ext cx="7254240" cy="4064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7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289202" y="1219199"/>
              <a:ext cx="2560319" cy="162560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368557" y="1298554"/>
              <a:ext cx="2401609" cy="1466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Customer preferences demand and supply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2987040" y="1219199"/>
              <a:ext cx="2560319" cy="16256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3"/>
            <p:cNvSpPr txBox="1"/>
            <p:nvPr/>
          </p:nvSpPr>
          <p:spPr>
            <a:xfrm>
              <a:off x="3066395" y="1298554"/>
              <a:ext cx="2401609" cy="1466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Innovation on Price performance and function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5684877" y="1219199"/>
              <a:ext cx="2560319" cy="16256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3"/>
            <p:cNvSpPr txBox="1"/>
            <p:nvPr/>
          </p:nvSpPr>
          <p:spPr>
            <a:xfrm>
              <a:off x="5764232" y="1298554"/>
              <a:ext cx="2401609" cy="1466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Disruption in the market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idx="1" type="body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/>
              <a:t>Introduction to asset servicing</a:t>
            </a:r>
            <a:endParaRPr/>
          </a:p>
        </p:txBody>
      </p:sp>
      <p:sp>
        <p:nvSpPr>
          <p:cNvPr id="248" name="Google Shape;248;p24"/>
          <p:cNvSpPr txBox="1"/>
          <p:nvPr>
            <p:ph idx="4294967295" type="sldNum"/>
          </p:nvPr>
        </p:nvSpPr>
        <p:spPr>
          <a:xfrm>
            <a:off x="0" y="645636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 servicing and related functions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8049" y="1371600"/>
            <a:ext cx="868203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differences between asset management, asset servicing, wealth management and private banking.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25"/>
          <p:cNvGraphicFramePr/>
          <p:nvPr/>
        </p:nvGraphicFramePr>
        <p:xfrm>
          <a:off x="157163" y="2438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{0ACF2CD4-3F7C-4763-9D14-1E59520A9C2C}</a:tableStyleId>
              </a:tblPr>
              <a:tblGrid>
                <a:gridCol w="654050"/>
                <a:gridCol w="3495300"/>
                <a:gridCol w="4532700"/>
              </a:tblGrid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800">
                        <a:solidFill>
                          <a:srgbClr val="10114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800">
                        <a:solidFill>
                          <a:srgbClr val="10114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>
                        <a:solidFill>
                          <a:srgbClr val="10114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FF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Asset management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bank managers assets of individual or corporate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Asset servicing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 undertakes all activities related to asset management such as transfer of ownership, statements and reports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Wealth management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Handling of assets and liabilities of customer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Private banking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11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Handling of assets and liabilities of Ultra High net worth individuals.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asset servicing</a:t>
            </a:r>
            <a:endParaRPr/>
          </a:p>
        </p:txBody>
      </p:sp>
      <p:sp>
        <p:nvSpPr>
          <p:cNvPr id="264" name="Google Shape;264;p26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sers with solid fill" id="265" name="Google Shape;2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558" y="2846671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with solid fill" id="266" name="Google Shape;2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386" y="282907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/>
          <p:nvPr/>
        </p:nvSpPr>
        <p:spPr>
          <a:xfrm rot="2433374">
            <a:off x="167787" y="2718019"/>
            <a:ext cx="1976437" cy="1752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1929406" y="2851691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Stocks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2050212" y="3346567"/>
            <a:ext cx="1531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Commodities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057242" y="3940779"/>
            <a:ext cx="8386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Bonds</a:t>
            </a:r>
            <a:endParaRPr/>
          </a:p>
        </p:txBody>
      </p:sp>
      <p:sp>
        <p:nvSpPr>
          <p:cNvPr id="271" name="Google Shape;271;p26"/>
          <p:cNvSpPr/>
          <p:nvPr/>
        </p:nvSpPr>
        <p:spPr>
          <a:xfrm rot="2433374">
            <a:off x="851902" y="2274696"/>
            <a:ext cx="2976535" cy="2644663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131147" y="3612085"/>
            <a:ext cx="181171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Pension funds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 manager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Insurance company</a:t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 rot="2433374">
            <a:off x="2740828" y="2168649"/>
            <a:ext cx="2976535" cy="2644663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5778568" y="2474150"/>
            <a:ext cx="3191899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 Servicing functions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onboarding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Stock buy and sell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Dividend payments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Reports and statements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Withholding tax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Proxy voting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Advisory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3754219" y="3607065"/>
            <a:ext cx="17368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 Servicing Officer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Challenges in asset servicing</a:t>
            </a:r>
            <a:endParaRPr/>
          </a:p>
        </p:txBody>
      </p:sp>
      <p:sp>
        <p:nvSpPr>
          <p:cNvPr id="282" name="Google Shape;282;p27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168049" y="1371600"/>
            <a:ext cx="8682037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Outdated technology enabled processes</a:t>
            </a:r>
            <a:endParaRPr/>
          </a:p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Repetitive and manual processes</a:t>
            </a:r>
            <a:endParaRPr/>
          </a:p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Inefficient and time consuming</a:t>
            </a:r>
            <a:endParaRPr/>
          </a:p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Demanding customers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 of a CTO</a:t>
            </a:r>
            <a:endParaRPr/>
          </a:p>
        </p:txBody>
      </p:sp>
      <p:sp>
        <p:nvSpPr>
          <p:cNvPr id="290" name="Google Shape;290;p28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168049" y="1371600"/>
            <a:ext cx="8682037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CTOs are expected to do about inefficient processes</a:t>
            </a:r>
            <a:endParaRPr/>
          </a:p>
          <a:p>
            <a:pPr indent="-114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Noto Sans Symbols"/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Replace with automation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 underlying technology</a:t>
            </a:r>
            <a:endParaRPr/>
          </a:p>
          <a:p>
            <a:pPr indent="-1143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idx="1" type="body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/>
              <a:t>Disruption using Blockchain</a:t>
            </a:r>
            <a:endParaRPr/>
          </a:p>
        </p:txBody>
      </p:sp>
      <p:sp>
        <p:nvSpPr>
          <p:cNvPr id="297" name="Google Shape;297;p29"/>
          <p:cNvSpPr txBox="1"/>
          <p:nvPr>
            <p:ph idx="4294967295" type="sldNum"/>
          </p:nvPr>
        </p:nvSpPr>
        <p:spPr>
          <a:xfrm>
            <a:off x="0" y="645636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 servicing case study Settlement</a:t>
            </a:r>
            <a:endParaRPr/>
          </a:p>
        </p:txBody>
      </p:sp>
      <p:sp>
        <p:nvSpPr>
          <p:cNvPr id="304" name="Google Shape;304;p30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erver with solid fill"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7526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 with solid fill" id="306" name="Google Shape;3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603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oud Computing outline" id="307" name="Google Shape;30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9827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with solid fill" id="308" name="Google Shape;30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 with solid fill" id="309" name="Google Shape;30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9488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with solid fill" id="310" name="Google Shape;31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3888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1" name="Google Shape;311;p30"/>
          <p:cNvGraphicFramePr/>
          <p:nvPr/>
        </p:nvGraphicFramePr>
        <p:xfrm>
          <a:off x="309896" y="35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{0ACF2CD4-3F7C-4763-9D14-1E59520A9C2C}</a:tableStyleId>
              </a:tblPr>
              <a:tblGrid>
                <a:gridCol w="1705850"/>
                <a:gridCol w="1705850"/>
                <a:gridCol w="1705850"/>
                <a:gridCol w="1705850"/>
                <a:gridCol w="1705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Customer 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Stockbroker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Stock Exchange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Stockbroker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Customer 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Cloud Computing outline" id="312" name="Google Shape;31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 txBox="1"/>
          <p:nvPr/>
        </p:nvSpPr>
        <p:spPr>
          <a:xfrm>
            <a:off x="157163" y="4092476"/>
            <a:ext cx="868203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above process digitizes stock ownership and stores stock in a ‘Demat Account’.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 of ownership from Customer A to customer B takes place during end of day settlement process, mediated through stock exchange.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stockbroker submit their record of transactions to stock exchange, where it is reconciled settled and ownership is transferred.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time consuming, exceptions in reconciliation are handled manually.</a:t>
            </a:r>
            <a:endParaRPr/>
          </a:p>
        </p:txBody>
      </p:sp>
      <p:pic>
        <p:nvPicPr>
          <p:cNvPr descr="Database with solid fill" id="314" name="Google Shape;314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44844" y="261449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with solid fill" id="315" name="Google Shape;31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54094" y="261449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with solid fill" id="316" name="Google Shape;316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54912" y="258966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UBIN of Singapore government</a:t>
            </a:r>
            <a:endParaRPr/>
          </a:p>
        </p:txBody>
      </p:sp>
      <p:sp>
        <p:nvSpPr>
          <p:cNvPr id="323" name="Google Shape;323;p31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erver with solid fill" id="324" name="Google Shape;3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89948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 with solid fill" id="325" name="Google Shape;32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603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oud Computing outline" id="326" name="Google Shape;32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9827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with solid fill" id="327" name="Google Shape;32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 with solid fill" id="328" name="Google Shape;32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9488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with solid fill" id="329" name="Google Shape;32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3888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oud Computing outline" id="330" name="Google Shape;33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18264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with solid fill" id="331" name="Google Shape;331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4800" y="2677279"/>
            <a:ext cx="914400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31"/>
          <p:cNvCxnSpPr>
            <a:stCxn id="333" idx="3"/>
          </p:cNvCxnSpPr>
          <p:nvPr/>
        </p:nvCxnSpPr>
        <p:spPr>
          <a:xfrm>
            <a:off x="3067514" y="2888536"/>
            <a:ext cx="1047300" cy="246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31"/>
          <p:cNvCxnSpPr>
            <a:stCxn id="335" idx="1"/>
          </p:cNvCxnSpPr>
          <p:nvPr/>
        </p:nvCxnSpPr>
        <p:spPr>
          <a:xfrm flipH="1">
            <a:off x="4991188" y="2869337"/>
            <a:ext cx="783900" cy="247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6" name="Google Shape;336;p31"/>
          <p:cNvSpPr txBox="1"/>
          <p:nvPr/>
        </p:nvSpPr>
        <p:spPr>
          <a:xfrm>
            <a:off x="157163" y="3912275"/>
            <a:ext cx="868203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UBIN of Singapore government leveraged distributed ledger facility provided by blockchain technology.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IBM R3 was the company that offered the solution through R3.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solution all transaction records are written directly into the database of stock exchange.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removes the need for a separate sync process at end of day.</a:t>
            </a:r>
            <a:endParaRPr/>
          </a:p>
        </p:txBody>
      </p:sp>
      <p:pic>
        <p:nvPicPr>
          <p:cNvPr descr="Database with solid fill" id="333" name="Google Shape;33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10314" y="26599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with solid fill" id="335" name="Google Shape;33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75088" y="264073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/>
          <p:nvPr>
            <p:ph idx="1" type="body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/>
              <a:t>Disruption using Robotic Process Automation RPA</a:t>
            </a:r>
            <a:endParaRPr/>
          </a:p>
        </p:txBody>
      </p:sp>
      <p:sp>
        <p:nvSpPr>
          <p:cNvPr id="342" name="Google Shape;342;p32"/>
          <p:cNvSpPr txBox="1"/>
          <p:nvPr>
            <p:ph idx="4294967295" type="sldNum"/>
          </p:nvPr>
        </p:nvSpPr>
        <p:spPr>
          <a:xfrm>
            <a:off x="0" y="645636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study to understand RPA</a:t>
            </a:r>
            <a:endParaRPr/>
          </a:p>
        </p:txBody>
      </p:sp>
      <p:sp>
        <p:nvSpPr>
          <p:cNvPr id="349" name="Google Shape;349;p33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atabase with solid fill" id="350" name="Google Shape;3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76186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tract with solid fill" id="351" name="Google Shape;3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167311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 with solid fill" id="352" name="Google Shape;35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941" y="176186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 with solid fill" id="353" name="Google Shape;35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3515" y="1761865"/>
            <a:ext cx="914400" cy="914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4" name="Google Shape;354;p33"/>
          <p:cNvGraphicFramePr/>
          <p:nvPr/>
        </p:nvGraphicFramePr>
        <p:xfrm>
          <a:off x="304800" y="3058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{0ACF2CD4-3F7C-4763-9D14-1E59520A9C2C}</a:tableStyleId>
              </a:tblPr>
              <a:tblGrid>
                <a:gridCol w="2768600"/>
                <a:gridCol w="2768600"/>
                <a:gridCol w="2768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Robot are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Robot capability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Robot enablement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6FF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/>
                        <a:t>Computer programs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/>
                        <a:t>Imitate the task of a human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/>
                        <a:t>Interact with documents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/>
                        <a:t>Interact with computers and databases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/>
                        <a:t>Rules and algorithms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/>
                        <a:t>Testing and validation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Programmer male with solid fill" id="355" name="Google Shape;35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0426" y="171958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RPA in KYC</a:t>
            </a:r>
            <a:endParaRPr/>
          </a:p>
        </p:txBody>
      </p:sp>
      <p:sp>
        <p:nvSpPr>
          <p:cNvPr id="362" name="Google Shape;362;p34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atabase with solid fill" id="363" name="Google Shape;3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7199" y="53340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tract with solid fill" id="364" name="Google Shape;36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914" y="16383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grammer male with solid fill" id="365" name="Google Shape;36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914" y="33250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1371600" y="1780102"/>
            <a:ext cx="72378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submits KYC data for account opening through a web form</a:t>
            </a:r>
            <a:endParaRPr/>
          </a:p>
        </p:txBody>
      </p:sp>
      <p:pic>
        <p:nvPicPr>
          <p:cNvPr descr="Open envelope with solid fill" id="367" name="Google Shape;36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0096" y="2419597"/>
            <a:ext cx="791503" cy="79150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4"/>
          <p:cNvSpPr txBox="1"/>
          <p:nvPr/>
        </p:nvSpPr>
        <p:spPr>
          <a:xfrm>
            <a:off x="157162" y="2706469"/>
            <a:ext cx="79200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email supporting documents like Aadhar, PAN card to KYC team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1203366" y="3548109"/>
            <a:ext cx="79200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RPA reads KYC data from web form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RPA opens email and open the supporting document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RPA screen scrape the text from Aadhar and PAN confirms it matches with the KYC data submitted in the web form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280060" y="5334000"/>
            <a:ext cx="79200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the KYC data and supporting documents match, the information is written into the KYC database for further processing.</a:t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280060" y="3362672"/>
            <a:ext cx="8559140" cy="1448227"/>
          </a:xfrm>
          <a:prstGeom prst="rect">
            <a:avLst/>
          </a:prstGeom>
          <a:noFill/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idx="1" type="body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/>
              <a:t>Disruption using Cognitive capability</a:t>
            </a:r>
            <a:endParaRPr/>
          </a:p>
        </p:txBody>
      </p:sp>
      <p:sp>
        <p:nvSpPr>
          <p:cNvPr id="377" name="Google Shape;377;p35"/>
          <p:cNvSpPr txBox="1"/>
          <p:nvPr>
            <p:ph idx="4294967295" type="sldNum"/>
          </p:nvPr>
        </p:nvSpPr>
        <p:spPr>
          <a:xfrm>
            <a:off x="0" y="645636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Advisory services</a:t>
            </a:r>
            <a:endParaRPr/>
          </a:p>
        </p:txBody>
      </p:sp>
      <p:sp>
        <p:nvSpPr>
          <p:cNvPr id="384" name="Google Shape;384;p36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ontract with solid fill" id="385" name="Google Shape;3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659" y="5157629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1371601" y="1491083"/>
            <a:ext cx="7467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 service officer need to send report on attractive stock investment opportunities to the customer</a:t>
            </a:r>
            <a:endParaRPr/>
          </a:p>
        </p:txBody>
      </p:sp>
      <p:sp>
        <p:nvSpPr>
          <p:cNvPr id="387" name="Google Shape;387;p36"/>
          <p:cNvSpPr txBox="1"/>
          <p:nvPr/>
        </p:nvSpPr>
        <p:spPr>
          <a:xfrm>
            <a:off x="2355767" y="5214949"/>
            <a:ext cx="52063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collated data is formatted and sent as advisory report to customer</a:t>
            </a:r>
            <a:endParaRPr/>
          </a:p>
        </p:txBody>
      </p:sp>
      <p:pic>
        <p:nvPicPr>
          <p:cNvPr descr="User with solid fill" id="388" name="Google Shape;38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060" y="13716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ity with solid fill" id="389" name="Google Shape;38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060" y="30593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oks with solid fill" id="390" name="Google Shape;390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3963" y="38239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ions with solid fill" id="391" name="Google Shape;391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259385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tificial Intelligence with solid fill" id="392" name="Google Shape;392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7236" y="314407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llustrator with solid fill" id="393" name="Google Shape;393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0533" y="281636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6"/>
          <p:cNvSpPr/>
          <p:nvPr/>
        </p:nvSpPr>
        <p:spPr>
          <a:xfrm rot="2433374">
            <a:off x="-293807" y="2293048"/>
            <a:ext cx="2976535" cy="2644663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6"/>
          <p:cNvSpPr txBox="1"/>
          <p:nvPr/>
        </p:nvSpPr>
        <p:spPr>
          <a:xfrm>
            <a:off x="2743200" y="2954942"/>
            <a:ext cx="4191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ML technology is used to collect relevant data from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Media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 reports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websites</a:t>
            </a:r>
            <a:endParaRPr/>
          </a:p>
        </p:txBody>
      </p:sp>
      <p:pic>
        <p:nvPicPr>
          <p:cNvPr descr="Customer review with solid fill" id="396" name="Google Shape;396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91400" y="514766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6"/>
          <p:cNvSpPr/>
          <p:nvPr/>
        </p:nvSpPr>
        <p:spPr>
          <a:xfrm>
            <a:off x="280060" y="2392014"/>
            <a:ext cx="8559140" cy="2622150"/>
          </a:xfrm>
          <a:prstGeom prst="rect">
            <a:avLst/>
          </a:prstGeom>
          <a:noFill/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use cases for cognitive technology</a:t>
            </a:r>
            <a:endParaRPr/>
          </a:p>
        </p:txBody>
      </p:sp>
      <p:sp>
        <p:nvSpPr>
          <p:cNvPr id="404" name="Google Shape;404;p37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5" name="Google Shape;405;p37"/>
          <p:cNvSpPr txBox="1"/>
          <p:nvPr/>
        </p:nvSpPr>
        <p:spPr>
          <a:xfrm>
            <a:off x="286657" y="1905000"/>
            <a:ext cx="853440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portfolio data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of funds of customer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Investment opportunity report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Industry commentary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Economy indicators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 and risk commentary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/>
              <a:t>How to prepare for disruption</a:t>
            </a:r>
            <a:endParaRPr/>
          </a:p>
        </p:txBody>
      </p:sp>
      <p:sp>
        <p:nvSpPr>
          <p:cNvPr id="411" name="Google Shape;411;p38"/>
          <p:cNvSpPr txBox="1"/>
          <p:nvPr>
            <p:ph idx="4294967295" type="sldNum"/>
          </p:nvPr>
        </p:nvSpPr>
        <p:spPr>
          <a:xfrm>
            <a:off x="0" y="645636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/>
          <p:nvPr/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Embracing disruption</a:t>
            </a:r>
            <a:endParaRPr/>
          </a:p>
        </p:txBody>
      </p:sp>
      <p:sp>
        <p:nvSpPr>
          <p:cNvPr id="418" name="Google Shape;418;p39"/>
          <p:cNvSpPr txBox="1"/>
          <p:nvPr>
            <p:ph idx="12" type="sldNum"/>
          </p:nvPr>
        </p:nvSpPr>
        <p:spPr>
          <a:xfrm>
            <a:off x="157163" y="64563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39"/>
          <p:cNvSpPr txBox="1"/>
          <p:nvPr/>
        </p:nvSpPr>
        <p:spPr>
          <a:xfrm>
            <a:off x="154053" y="1422837"/>
            <a:ext cx="8682037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 capability and thought leadership</a:t>
            </a:r>
            <a:endParaRPr/>
          </a:p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Culture that is conducive to change</a:t>
            </a:r>
            <a:endParaRPr/>
          </a:p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Redefine process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 the transformation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Redefine roles </a:t>
            </a:r>
            <a:endParaRPr/>
          </a:p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Propensity to use technology and innovate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853C582161264F9118F6E05D309FBB" ma:contentTypeVersion="4" ma:contentTypeDescription="Create a new document." ma:contentTypeScope="" ma:versionID="3b093584ed25202b813a371cae3e7ff1">
  <xsd:schema xmlns:xsd="http://www.w3.org/2001/XMLSchema" xmlns:xs="http://www.w3.org/2001/XMLSchema" xmlns:p="http://schemas.microsoft.com/office/2006/metadata/properties" xmlns:ns2="e77dc9f4-c0fc-4291-bb79-2ca58fb2d67e" targetNamespace="http://schemas.microsoft.com/office/2006/metadata/properties" ma:root="true" ma:fieldsID="6f2cfd0c777a04a871f9400518cbe54c" ns2:_="">
    <xsd:import namespace="e77dc9f4-c0fc-4291-bb79-2ca58fb2d6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7dc9f4-c0fc-4291-bb79-2ca58fb2d6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E6365D-1356-4A3D-8E62-ED3CB2692869}"/>
</file>

<file path=customXml/itemProps2.xml><?xml version="1.0" encoding="utf-8"?>
<ds:datastoreItem xmlns:ds="http://schemas.openxmlformats.org/officeDocument/2006/customXml" ds:itemID="{246BA973-21AE-437A-A543-2F52ED2491A6}"/>
</file>

<file path=customXml/itemProps3.xml><?xml version="1.0" encoding="utf-8"?>
<ds:datastoreItem xmlns:ds="http://schemas.openxmlformats.org/officeDocument/2006/customXml" ds:itemID="{ED4419AC-C90F-418A-8729-79137C3E9719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0x010100AE853C582161264F9118F6E05D309FBB</vt:lpwstr>
  </property>
</Properties>
</file>